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B4F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822960"/>
            <a:ext cx="3657600" cy="3657600"/>
          </a:xfrm>
          <a:prstGeom prst="ellipse">
            <a:avLst/>
          </a:prstGeom>
          <a:solidFill>
            <a:srgbClr val="0F6E6E">
              <a:alpha val="3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50292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KLINIKAI-KUTATÁSI ÁTTEKINTÉS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19202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Maxillofaciális rehabilitáció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2834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CF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Betegregiszter, ellátáskoordináció és kutatás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841248" y="3749040"/>
            <a:ext cx="2194560" cy="0"/>
          </a:xfrm>
          <a:prstGeom prst="line">
            <a:avLst/>
          </a:prstGeom>
          <a:noFill/>
          <a:ln w="31750">
            <a:solidFill>
              <a:srgbClr val="12B88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023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Egyetlen rendszer a napi klinikai munkára és a strukturált, kutatásra kész betegregiszterre — ugyanabból az adatból.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belső bemutató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ÁTTEKINTÉS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Egy adat — három haszon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klinikai munka során rögzített adat egyúttal strukturált betegregisztert épít, amelyből kutatás végezhető — párhuzamos adatbevitel és külön „kutatási adatlap” nélkül.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3566160"/>
          </a:xfrm>
          <a:prstGeom prst="rect">
            <a:avLst/>
          </a:prstGeom>
          <a:solidFill>
            <a:srgbClr val="F1F6F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3520440" cy="118872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560320"/>
            <a:ext cx="9601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E6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798064"/>
            <a:ext cx="484632" cy="4846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657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Operatív klinikai munka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422452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Időpontok, kezelési tervek, konzíliumok és feladatok egy helyen, valós időben.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53128" y="2148840"/>
            <a:ext cx="3520440" cy="3566160"/>
          </a:xfrm>
          <a:prstGeom prst="rect">
            <a:avLst/>
          </a:prstGeom>
          <a:solidFill>
            <a:srgbClr val="F1F6F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53128" y="2148840"/>
            <a:ext cx="3520440" cy="118872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13" name="Shape 10"/>
          <p:cNvSpPr/>
          <p:nvPr/>
        </p:nvSpPr>
        <p:spPr>
          <a:xfrm>
            <a:off x="4773168" y="2560320"/>
            <a:ext cx="9601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B88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2798064"/>
            <a:ext cx="484632" cy="4846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73168" y="3657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Strukturált betegregiszter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773168" y="422452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Longitudinális, szabványosított adat minden páciensről — egyetlen hiteles forrás.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266176" y="2148840"/>
            <a:ext cx="3520440" cy="3566160"/>
          </a:xfrm>
          <a:prstGeom prst="rect">
            <a:avLst/>
          </a:prstGeom>
          <a:solidFill>
            <a:srgbClr val="F1F6F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66176" y="2148840"/>
            <a:ext cx="3520440" cy="11887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Shape 15"/>
          <p:cNvSpPr/>
          <p:nvPr/>
        </p:nvSpPr>
        <p:spPr>
          <a:xfrm>
            <a:off x="8586216" y="2560320"/>
            <a:ext cx="9601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798064"/>
            <a:ext cx="484632" cy="4846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86216" y="3657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Kutatás &amp; elemzés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586216" y="422452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Hipotézis-tesztelés és statisztikai modellezés a felhalmozott regiszteradaton.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Maxillofaciális rehabilitáció · klinikai-kutatási áttekintés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BETEGREGISZTER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Mire való a betegregiszter?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statikus lista, hanem élő, longitudinális kohorsz — minden páciens útja a beutalótól a protézis átadásáig és a kontrollokig követhető.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169164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697480"/>
            <a:ext cx="868680" cy="868680"/>
          </a:xfrm>
          <a:prstGeom prst="ellipse">
            <a:avLst/>
          </a:prstGeom>
          <a:solidFill>
            <a:srgbClr val="0B2A3A"/>
          </a:solidFill>
          <a:ln w="17780">
            <a:solidFill>
              <a:srgbClr val="12B8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91693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5786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Egyetlen hiteles forrás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2011680" y="3063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klinikai adat egy helyen, szabványosított mezőkkel — nincs széttagolt papír vagy táblázat.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49240" cy="169164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01968" y="2697480"/>
            <a:ext cx="868680" cy="868680"/>
          </a:xfrm>
          <a:prstGeom prst="ellipse">
            <a:avLst/>
          </a:prstGeom>
          <a:solidFill>
            <a:srgbClr val="0B2A3A"/>
          </a:solidFill>
          <a:ln w="17780">
            <a:solidFill>
              <a:srgbClr val="12B88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916936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25786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Longitudinális követés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680960" y="3063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Defektustól a rehabilitációig: műtét, terápia, protézis és életminőség idősorként.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349240" cy="169164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2688" y="4663440"/>
            <a:ext cx="868680" cy="868680"/>
          </a:xfrm>
          <a:prstGeom prst="ellipse">
            <a:avLst/>
          </a:prstGeom>
          <a:solidFill>
            <a:srgbClr val="0B2A3A"/>
          </a:solidFill>
          <a:ln w="17780">
            <a:solidFill>
              <a:srgbClr val="12B88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882896"/>
            <a:ext cx="429768" cy="4297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5445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Kutatásra kész adat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2011680" y="5029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Egységes klasszifikációk (Brown, Kovács-Dobák, Fábián-Fejérdy) elemezhető formában.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09360" y="4251960"/>
            <a:ext cx="5349240" cy="169164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01968" y="4663440"/>
            <a:ext cx="868680" cy="868680"/>
          </a:xfrm>
          <a:prstGeom prst="ellipse">
            <a:avLst/>
          </a:prstGeom>
          <a:solidFill>
            <a:srgbClr val="0B2A3A"/>
          </a:solidFill>
          <a:ln w="17780">
            <a:solidFill>
              <a:srgbClr val="12B88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4882896"/>
            <a:ext cx="429768" cy="4297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80960" y="45445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Minőség &amp; kohorsz-kiválasztás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680960" y="5029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Teljességi pontszám és megfelelőségi státusz alapján szűrhető, megbízható alcsoportok.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Maxillofaciális rehabilitáció · klinikai-kutatási áttekintés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ADATKÖR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Milyen adatokat gyűjtünk a betegekről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Strukturált, klasszifikáció-alapú adat minden szakaszban — a demográfiától az életminőség-kimenetig.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78308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58568"/>
            <a:ext cx="749808" cy="7498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414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Demográfia &amp; azonosítás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Kor, nem, TAJ, elérhetőség; törvényes képviselő kiskorúnál; kezelőorvos.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53128" y="1965960"/>
            <a:ext cx="3520440" cy="178308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1" name="Shape 8"/>
          <p:cNvSpPr/>
          <p:nvPr/>
        </p:nvSpPr>
        <p:spPr>
          <a:xfrm>
            <a:off x="4727448" y="2258568"/>
            <a:ext cx="749808" cy="7498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6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44144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41848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Beutaló &amp; onkológia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27448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Beutaló orvos/intézmény, műtét ideje, szövettani diagnózis, TNM, nyaki blokkdisszekció.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66176" y="1965960"/>
            <a:ext cx="3520440" cy="178308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6" name="Shape 12"/>
          <p:cNvSpPr/>
          <p:nvPr/>
        </p:nvSpPr>
        <p:spPr>
          <a:xfrm>
            <a:off x="8540496" y="2258568"/>
            <a:ext cx="749808" cy="7498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6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76" y="244144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54896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Adjuváns terápia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40496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Sugárterápia (dózis, Gy), kemoterápia; életmód: alkohol, dohányzás.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005072"/>
            <a:ext cx="3520440" cy="178308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21" name="Shape 16"/>
          <p:cNvSpPr/>
          <p:nvPr/>
        </p:nvSpPr>
        <p:spPr>
          <a:xfrm>
            <a:off x="914400" y="4297680"/>
            <a:ext cx="749808" cy="7498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6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48056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28800" y="42793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Defektus-klasszifikáció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14400" y="51023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Maxilla: Brown (1–4 / a–c); mandibula: Kovács-Dobák (1–5); Fábián-Fejérdy protetikai osztály.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53128" y="4005072"/>
            <a:ext cx="3520440" cy="178308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26" name="Shape 20"/>
          <p:cNvSpPr/>
          <p:nvPr/>
        </p:nvSpPr>
        <p:spPr>
          <a:xfrm>
            <a:off x="4727448" y="4297680"/>
            <a:ext cx="749808" cy="7498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6E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4480560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41848" y="42793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Fogászati státusz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727448" y="51023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Meglévő fogak (Zsigmondy), implantátumok, protézisek típusa és állapota — JSON-ban.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266176" y="4005072"/>
            <a:ext cx="3520440" cy="178308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31" name="Shape 24"/>
          <p:cNvSpPr/>
          <p:nvPr/>
        </p:nvSpPr>
        <p:spPr>
          <a:xfrm>
            <a:off x="8540496" y="4297680"/>
            <a:ext cx="749808" cy="74980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6E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76" y="4480560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454896" y="42793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Kezelési terv &amp; kimenet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540496" y="51023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Felső/alsó protetikai terv, epitézis-terv; beszéd/nyelés; OHIP-14 életminőség.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Maxillofaciális rehabilitáció · klinikai-kutatási áttekintés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IDŐPONTKEZELÉS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Mire jó az időpontkezelés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determinisztikus, többfeltételes foglalási motor a kezelési tervből vezeti le, mikor mi következik — és megvédi a páciensutat a túlfoglalástól.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foglalás életciklusa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074920" cy="713232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569464"/>
            <a:ext cx="420624" cy="420624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569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4231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Slot-szándék  </a:t>
            </a:r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terv kivetíti a jövőbeli igényt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64408"/>
            <a:ext cx="5074920" cy="713232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" y="3410712"/>
            <a:ext cx="420624" cy="420624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26440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Foglalás / hold  </a:t>
            </a:r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ideiglenes lefoglalás, lejárattal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5074920" cy="713232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251960"/>
            <a:ext cx="420624" cy="420624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10565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Lánc-foglalás  </a:t>
            </a:r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összefüggő lépések együtt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946904"/>
            <a:ext cx="5074920" cy="713232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" y="5093208"/>
            <a:ext cx="420624" cy="420624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94690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Időpont  </a:t>
            </a:r>
            <a:pPr indent="0" marL="0"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véglegesített, naptárba írt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035040" y="1965960"/>
            <a:ext cx="5486400" cy="932688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263640" y="2203704"/>
            <a:ext cx="502920" cy="50292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6E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2" y="2322576"/>
            <a:ext cx="265176" cy="26517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949440" y="207568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Pool-ok &amp; kapacitás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949440" y="23865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Konzultáció / munka / kontroll külön kvótával; az első 3 kontroll szűkös „munka” erőforrás.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35040" y="2990088"/>
            <a:ext cx="5486400" cy="932688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28" name="Shape 25"/>
          <p:cNvSpPr/>
          <p:nvPr/>
        </p:nvSpPr>
        <p:spPr>
          <a:xfrm>
            <a:off x="6263640" y="3227832"/>
            <a:ext cx="502920" cy="50292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6E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3346704"/>
            <a:ext cx="265176" cy="26517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949440" y="309981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No-show kockázat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949440" y="341071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Előjegyzési táv, óra és a páciens 12 havi elmaradási aránya alapján becsült kockázat.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035040" y="4014216"/>
            <a:ext cx="5486400" cy="932688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33" name="Shape 29"/>
          <p:cNvSpPr/>
          <p:nvPr/>
        </p:nvSpPr>
        <p:spPr>
          <a:xfrm>
            <a:off x="6263640" y="4251960"/>
            <a:ext cx="502920" cy="50292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6E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4370832"/>
            <a:ext cx="265176" cy="26517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949440" y="412394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„Egy kemény következő”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6949440" y="44348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Epizódonként max. 1 jövőbeli munka-időpont — nincs túlfoglalás, tiszta sorrend.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035040" y="5038344"/>
            <a:ext cx="5486400" cy="932688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38" name="Shape 33"/>
          <p:cNvSpPr/>
          <p:nvPr/>
        </p:nvSpPr>
        <p:spPr>
          <a:xfrm>
            <a:off x="6263640" y="5276088"/>
            <a:ext cx="502920" cy="50292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6E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5394960"/>
            <a:ext cx="265176" cy="26517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949440" y="514807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Automatikus lejárat</a:t>
            </a:r>
            <a:endParaRPr lang="en-US" sz="1400" dirty="0"/>
          </a:p>
        </p:txBody>
      </p:sp>
      <p:sp>
        <p:nvSpPr>
          <p:cNvPr id="41" name="Text 35"/>
          <p:cNvSpPr/>
          <p:nvPr/>
        </p:nvSpPr>
        <p:spPr>
          <a:xfrm>
            <a:off x="6949440" y="54589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lefoglalt, fel nem használt slot 5–10 percenként futó worker által felszabadul.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Maxillofaciális rehabilitáció · klinikai-kutatási áttekintés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KEZELÉSI TERVEK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Hogyan menedzselhetők a kezelési tervek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kezelési terv nem szabad szöveg, hanem ellátási útvonal (care pathway): sorba rendezett munkafázisok, amelyekből a rendszer kiszámolja a következő lépést és a várható befejezést.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49240" cy="342900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60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5786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Ahogy a terv felépül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2918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Útvonal-sablon → epizód munkafázisai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fázis: kód, pool, időtartam, eltolás-nap, kockázati kapu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 útvonal egyesített sorrendbe fésülve (seq)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Státusz fázisonként: függő / ütemezett / kész / kihagyott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i="1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Átállás folyamatban a normalizált terv-tételekre (episode_plan_items)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2240280"/>
            <a:ext cx="5349240" cy="160020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54203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25420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„Következő lépés” motor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92240" y="31089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Megadja a soron következő munkafázist és az időablakát — vagy jelzi, mi blokkolja (pl. hiányzó implantátum-terv, labor-árajánlat).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72200" y="4069080"/>
            <a:ext cx="5349240" cy="160020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37083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0" y="43708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Előrejelzés (forecast)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92240" y="49377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Hátralévő látogatások P50 / P80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és a várható befejezési ablak — útvonal-analitikából, determinisztikus gyorsítótárral.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Maxillofaciális rehabilitáció · klinikai-kutatási áttekintés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KONZÍLIUMOK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Multidiszciplináris konzíliumok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komplex maxillofaciális esetek közös döntéshozatala végigvezetve: előkészítés, meghívás, megbeszélés, döntés és delegálás — auditálható nyommal.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148840" cy="548640"/>
          </a:xfrm>
          <a:prstGeom prst="rect">
            <a:avLst/>
          </a:prstGeom>
          <a:solidFill>
            <a:srgbClr val="E3EFE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Vázlat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88920" y="19659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1965960"/>
            <a:ext cx="2148840" cy="548640"/>
          </a:xfrm>
          <a:prstGeom prst="rect">
            <a:avLst/>
          </a:prstGeom>
          <a:solidFill>
            <a:srgbClr val="E3EFE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Aktív ülés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19659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760720" y="1965960"/>
            <a:ext cx="2148840" cy="54864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Lezárt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5349240" cy="137160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081528"/>
            <a:ext cx="777240" cy="7772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6E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3273552"/>
            <a:ext cx="393192" cy="39319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847088" y="3017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Meghívók &amp; visszajelzés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847088" y="341071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Résztvevők meghívása, RSVP (megyek / késem / új időpont) javasolt időponttal és megjegyzéssel.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09360" y="2788920"/>
            <a:ext cx="5349240" cy="137160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9" name="Shape 16"/>
          <p:cNvSpPr/>
          <p:nvPr/>
        </p:nvSpPr>
        <p:spPr>
          <a:xfrm>
            <a:off x="6583680" y="3081528"/>
            <a:ext cx="777240" cy="7772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6E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3273552"/>
            <a:ext cx="393192" cy="3931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516368" y="3017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Előkészítő megosztó link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516368" y="341071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Hashelt, lejáró token (alap 14 nap) — külső kolléga bejelentkezés nélkül megtekintheti az eset-előkészítést.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40080" y="4416552"/>
            <a:ext cx="5349240" cy="137160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24" name="Shape 20"/>
          <p:cNvSpPr/>
          <p:nvPr/>
        </p:nvSpPr>
        <p:spPr>
          <a:xfrm>
            <a:off x="914400" y="4709160"/>
            <a:ext cx="777240" cy="7772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6E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4901184"/>
            <a:ext cx="393192" cy="39319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847088" y="46451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Napirend &amp; döntés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1847088" y="503834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Esetenként ellenőrzőlista, strukturált döntésszöveg, előkészítő hozzászólások — időbélyeggel, szerzővel.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309360" y="4416552"/>
            <a:ext cx="5349240" cy="137160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29" name="Shape 24"/>
          <p:cNvSpPr/>
          <p:nvPr/>
        </p:nvSpPr>
        <p:spPr>
          <a:xfrm>
            <a:off x="6583680" y="4709160"/>
            <a:ext cx="777240" cy="7772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F6E6E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4901184"/>
            <a:ext cx="393192" cy="39319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516368" y="46451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Delegált feladatok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7516368" y="503834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döntésből közvetlenül feladat keletkezik (felelős, határidő) az érintett munkatárs listájában.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Prezentációs mód: a teljes ülés vetíthető a tárgyalóban; lezárás után az adatok rögzülnek.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Maxillofaciális rehabilitáció · klinikai-kutatási áttekintés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AUTOMATIZÁLÁS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Automatizált folyamatok a háttérben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Ütemezett feladatok tartják karban az ellátást és az adatminőséget — emberi felügyelet nélkül, idempotens módon.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12064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Folyamat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csinál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Kiváltó / gyakoriság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OHIP-14 emlékeztetők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a páciensnek a nyitott életminőség-időpontról, portál-linkkel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napi · 7 napos cooldown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feladatok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Kontroll-feladatok generálása az átadáskor (STAGE_6)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és 365 nap az átadástól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Feladat-emlékeztetők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és e-mail értesítés a saját és delegált feladatokról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határidő előtt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Hiányzó-adat eszkaláció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Hiányzó kötelező mezők jelzése, fokozódó emlékeztetőkkel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napi · eszkalációs létra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/ intent lejárat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Lefoglalt, fel nem használt slotok felszabadítása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4F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perc / ~6 óra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Maxillofaciális rehabilitáció · klinikai-kutatási áttekintés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ADATMINŐSÉG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Hiányzó adatok menedzselése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teljesség mérhető és követhető — így a regiszter megbízható, a kutatható kohorsz pedig jól körülhatárolt.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3703320"/>
          </a:xfrm>
          <a:prstGeom prst="rect">
            <a:avLst/>
          </a:prstGeom>
          <a:solidFill>
            <a:srgbClr val="F1F6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128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212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Hogyan mérjük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Teljességi pontszám 0–100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(alkalmazható − hiányzó) / alkalmazható × 100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Kötelező mezők (NEAK-minimum): név, nem, születés, TAJ, e-mail, kezelés oka, diagnózis, fogazat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Kötelező dokumentum: min. 1 OP panoráma röntgen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Feltételes mezők csak ha relevánsak: TNM (onkológia), Brown (maxilla), Kovács-Dobák (mandibula), RT-dózis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Plauzibilitás: TAJ-formátum, dátumlogika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349240" cy="3703320"/>
          </a:xfrm>
          <a:prstGeom prst="rect">
            <a:avLst/>
          </a:prstGeom>
          <a:solidFill>
            <a:srgbClr val="FDF4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21284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13448" y="22128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Hogyan jelezzük &amp; eszkaláljuk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46520" y="278892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 pillanatkép &amp; trend</a:t>
            </a:r>
            <a:endParaRPr lang="en-US" sz="1250" dirty="0"/>
          </a:p>
          <a:p>
            <a:pPr lvl="1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6B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Átlagos pontszám, klinikailag teljes, kutatásra kész, figyelmeztetéses — időben követve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Orvosonkénti kohorsz-bontás</a:t>
            </a:r>
            <a:endParaRPr lang="en-US" sz="1250" dirty="0"/>
          </a:p>
          <a:p>
            <a:pPr lvl="1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6B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melyik páciensénél mit hiányol — célzott pótlás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Eszkalációs létra</a:t>
            </a:r>
            <a:endParaRPr lang="en-US" sz="1250" dirty="0"/>
          </a:p>
          <a:p>
            <a:pPr lvl="1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6B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hiányzó adatra fokozódó emlékeztetők, amíg pótolják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Maxillofaciális rehabilitáció · klinikai-kutatási áttekintés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KUTATÁS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Milyen hipotézisek tesztelhetők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strukturált klasszifikációk, az életminőség-idősorok és a kezelési metrikák konkrét klinikai kérdéseket nyitnak meg.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1115568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5059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25856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protetikai rehabilitáció javítja az OHIP-14 életminőséget (T0→T2); a hatás nagysága függ a defektus súlyosságától.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309360" y="2148840"/>
            <a:ext cx="5349240" cy="1115568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45059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225856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maxilla-defektus kiterjedése (Brown 1–4) előrejelzi az átadásig szükséges munkafázis-látogatások számát.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5349240" cy="1115568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73075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30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53872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sugárterápiás dózis hosszabb kezelési idővel és kisebb életminőség-javulással jár.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309360" y="3429000"/>
            <a:ext cx="5349240" cy="1115568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373075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730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23760" y="353872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implantátum-megtámasztott protézis nagyobb OHIP-javulást ad, mint a konvencionális — a defektus-osztályra korrigálva.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40080" y="4709160"/>
            <a:ext cx="5349240" cy="1115568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501091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010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81888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no-show kockázati tényezők (előjegyzési táv, óra, korábbi elmaradás) valóban előrejelzik a meg nem jelenést.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309360" y="4709160"/>
            <a:ext cx="5349240" cy="1115568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37960" y="5010912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5010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481888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nyálállapot (hypo-/hyperszaliváció) módosítja a beszéd- és nyelésfunkció kimenetét.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Maxillofaciális rehabilitáció · klinikai-kutatási áttekintés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KUTATÁS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Milyen statisztikai modellezés végezhető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regiszter adatszerkezete közvetlenül illeszkedik a standard biostatisztikai módszerekhez.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78308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2B8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231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2219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Lineáris kevert modellek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04495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Ismételt OHIP-14 mérések (T0–T3); egyéni életminőség-trajektóriák random hatásokkal.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53128" y="1965960"/>
            <a:ext cx="3520440" cy="178308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1" name="Shape 8"/>
          <p:cNvSpPr/>
          <p:nvPr/>
        </p:nvSpPr>
        <p:spPr>
          <a:xfrm>
            <a:off x="4727448" y="2240280"/>
            <a:ext cx="749808" cy="7498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2B88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42316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41848" y="22219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Túlélés-analízis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27448" y="304495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Idő a protézis átadásáig / befejezésig — Kaplan–Meier, Cox-regresszió.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66176" y="1965960"/>
            <a:ext cx="3520440" cy="178308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16" name="Shape 12"/>
          <p:cNvSpPr/>
          <p:nvPr/>
        </p:nvSpPr>
        <p:spPr>
          <a:xfrm>
            <a:off x="8540496" y="2240280"/>
            <a:ext cx="749808" cy="7498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2B88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76" y="242316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54896" y="22219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Számlálás-regresszió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540496" y="304495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Munkafázis-látogatások száma — Poisson / negatív binomiális modell.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005072"/>
            <a:ext cx="3520440" cy="178308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21" name="Shape 16"/>
          <p:cNvSpPr/>
          <p:nvPr/>
        </p:nvSpPr>
        <p:spPr>
          <a:xfrm>
            <a:off x="914400" y="4279392"/>
            <a:ext cx="749808" cy="7498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2B88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46227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28800" y="42611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Logisztikus regresszió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14400" y="508406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és sikertelen időpont előrejelzése, a beépített kockázati jellemzőkből.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53128" y="4005072"/>
            <a:ext cx="3520440" cy="178308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26" name="Shape 20"/>
          <p:cNvSpPr/>
          <p:nvPr/>
        </p:nvSpPr>
        <p:spPr>
          <a:xfrm>
            <a:off x="4727448" y="4279392"/>
            <a:ext cx="749808" cy="7498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2B88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446227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41848" y="42611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Korrekció &amp; mediáció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727448" y="508406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Konfounderek (kor, RT-dózis, defektus) kiszűrése; defektus → komplexitás → életminőség út.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266176" y="4005072"/>
            <a:ext cx="3520440" cy="1783080"/>
          </a:xfrm>
          <a:prstGeom prst="rect">
            <a:avLst/>
          </a:prstGeom>
          <a:solidFill>
            <a:srgbClr val="F1F6F6"/>
          </a:solidFill>
          <a:ln/>
        </p:spPr>
      </p:sp>
      <p:sp>
        <p:nvSpPr>
          <p:cNvPr id="31" name="Shape 24"/>
          <p:cNvSpPr/>
          <p:nvPr/>
        </p:nvSpPr>
        <p:spPr>
          <a:xfrm>
            <a:off x="8540496" y="4279392"/>
            <a:ext cx="749808" cy="7498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2B88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76" y="4462272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454896" y="42611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Alcsoport-elemzés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540496" y="508406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Onkológiai vs. trauma vs. veleszületett esetek kimeneteinek összevetése.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Maxillofaciális rehabilitáció · klinikai-kutatási áttekintés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MEGFELELŐSÉG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Hozzájárulás és etikai keret — röviden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kutatási felhasználás jogilag tiszta alapokon áll; a regiszter klinikai adatként mindig rendelkezésre áll, kutatási exportként szigorúan kapuzva.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3200400"/>
          </a:xfrm>
          <a:prstGeom prst="rect">
            <a:avLst/>
          </a:prstGeom>
          <a:solidFill>
            <a:srgbClr val="F1F6F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51460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B8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743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611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Kétpilléres hozzájárulás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41605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Adatvédelmi tájékoztató tudomásulvétele (klinikai adat) külön a kutatási hozzájárulástól (önkéntes, visszavonható).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53128" y="2148840"/>
            <a:ext cx="3520440" cy="3200400"/>
          </a:xfrm>
          <a:prstGeom prst="rect">
            <a:avLst/>
          </a:prstGeom>
          <a:solidFill>
            <a:srgbClr val="F1F6F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3168" y="251460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B88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743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611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De-identifikált export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73168" y="41605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Korsáv és régió-előtag pontos adat helyett; személyazonosító (név, TAJ, e-mail) soha nem kerül exportba.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66176" y="2148840"/>
            <a:ext cx="3520440" cy="3200400"/>
          </a:xfrm>
          <a:prstGeom prst="rect">
            <a:avLst/>
          </a:prstGeom>
          <a:solidFill>
            <a:srgbClr val="F1F6F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86216" y="251460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B88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27432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86216" y="36118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E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Etikai kapu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86216" y="41605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csak érvényes etikai engedéllyel (ETT TUKEB); addig szándékosan tiltva — a klinikai működést ez nem érinti.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Megjegyzés: a jogi keret a megismert GDPR / 1997. évi CLIV. tv. elvárások szerint épült, szakmai (DPO) jóváhagyásra vár — nem jogi tanács.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Maxillofaciális rehabilitáció · klinikai-kutatási áttekintés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474720"/>
            <a:ext cx="5943600" cy="5943600"/>
          </a:xfrm>
          <a:prstGeom prst="ellipse">
            <a:avLst/>
          </a:prstGeom>
          <a:solidFill>
            <a:srgbClr val="0B4F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663440"/>
            <a:ext cx="3657600" cy="3657600"/>
          </a:xfrm>
          <a:prstGeom prst="ellipse">
            <a:avLst/>
          </a:prstGeom>
          <a:solidFill>
            <a:srgbClr val="0F6E6E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ÖSSZEFOGLALÓ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klinikai munka kutatási tőkévé válik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3429000" cy="246888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834640"/>
            <a:ext cx="868680" cy="868680"/>
          </a:xfrm>
          <a:prstGeom prst="ellipse">
            <a:avLst/>
          </a:prstGeom>
          <a:solidFill>
            <a:srgbClr val="0B2A3A"/>
          </a:solidFill>
          <a:ln w="19050">
            <a:solidFill>
              <a:srgbClr val="12B8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304495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3840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Élő betegregiszter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" y="4343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Longitudinális, szabványosított adat — egyetlen hiteles forrásból.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26280" y="2514600"/>
            <a:ext cx="3429000" cy="246888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2834640"/>
            <a:ext cx="868680" cy="868680"/>
          </a:xfrm>
          <a:prstGeom prst="ellipse">
            <a:avLst/>
          </a:prstGeom>
          <a:solidFill>
            <a:srgbClr val="0B2A3A"/>
          </a:solidFill>
          <a:ln w="19050">
            <a:solidFill>
              <a:srgbClr val="12B88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304495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3840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Automatizált működés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46320" y="4343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Időpont, recall, OHIP, feladat és hiányzó-adat — felügyelet nélkül.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29600" y="2514600"/>
            <a:ext cx="3429000" cy="2468880"/>
          </a:xfrm>
          <a:prstGeom prst="rect">
            <a:avLst/>
          </a:prstGeom>
          <a:solidFill>
            <a:srgbClr val="0B4F4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49640" y="2834640"/>
            <a:ext cx="868680" cy="868680"/>
          </a:xfrm>
          <a:prstGeom prst="ellipse">
            <a:avLst/>
          </a:prstGeom>
          <a:solidFill>
            <a:srgbClr val="0B2A3A"/>
          </a:solidFill>
          <a:ln w="19050">
            <a:solidFill>
              <a:srgbClr val="12B88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304495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9640" y="3840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Kutatható kimenet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549640" y="4343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Konkrét hipotézisek és standard statisztikai modellek a regiszteren.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6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Köszönöm a figyelmet — kérdések, észrevételek?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Betegregiszter, ellátáskoordináció és kutatás</dc:title>
  <dc:subject>PptxGenJS Presentation</dc:subject>
  <dc:creator>Maxillofaciális Rehabilitáció</dc:creator>
  <cp:lastModifiedBy>Maxillofaciális Rehabilitáció</cp:lastModifiedBy>
  <cp:revision>1</cp:revision>
  <dcterms:created xsi:type="dcterms:W3CDTF">2026-06-14T07:34:24Z</dcterms:created>
  <dcterms:modified xsi:type="dcterms:W3CDTF">2026-06-14T07:34:24Z</dcterms:modified>
</cp:coreProperties>
</file>