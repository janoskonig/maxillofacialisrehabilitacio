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Etiology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F6E6E"/>
              </a:solidFill>
              <a:effectLst/>
            </c:spPr>
          </c:dPt>
          <c:dPt>
            <c:idx val="1"/>
            <c:bubble3D val="0"/>
            <c:spPr>
              <a:solidFill>
                <a:srgbClr val="12B886"/>
              </a:solidFill>
              <a:effectLst/>
            </c:spPr>
          </c:dPt>
          <c:dPt>
            <c:idx val="2"/>
            <c:bubble3D val="0"/>
            <c:spPr>
              <a:solidFill>
                <a:srgbClr val="E8A33D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Post-oncologic</c:v>
                </c:pt>
                <c:pt idx="1">
                  <c:v>Congenital</c:v>
                </c:pt>
                <c:pt idx="2">
                  <c:v>Traumatic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65</c:v>
                </c:pt>
                <c:pt idx="1">
                  <c:v>18</c:v>
                </c:pt>
                <c:pt idx="2">
                  <c:v>3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E2B30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Visits</c:v>
                </c:pt>
              </c:strCache>
            </c:strRef>
          </c:tx>
          <c:spPr>
            <a:solidFill>
              <a:srgbClr val="12B88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1E2B3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2B88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0492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8A33D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6B7C82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Completed</c:v>
                  </c:pt>
                  <c:pt idx="1">
                    <c:v>No-show</c:v>
                  </c:pt>
                  <c:pt idx="2">
                    <c:v>Cancelled</c:v>
                  </c:pt>
                  <c:pt idx="3">
                    <c:v>Unsuccessful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150</c:v>
                </c:pt>
                <c:pt idx="1">
                  <c:v>7</c:v>
                </c:pt>
                <c:pt idx="2">
                  <c:v>11</c:v>
                </c:pt>
                <c:pt idx="3">
                  <c:v>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200" u="none">
                  <a:solidFill>
                    <a:srgbClr val="1E2B3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0B4F4F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966960" y="-822960"/>
            <a:ext cx="3657600" cy="3657600"/>
          </a:xfrm>
          <a:prstGeom prst="ellipse">
            <a:avLst/>
          </a:prstGeom>
          <a:solidFill>
            <a:srgbClr val="0F6E6E">
              <a:alpha val="35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502920"/>
            <a:ext cx="777240" cy="7772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12801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2B8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EPA 2026 · PRAGUE · 1–3 OCTOBER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777240" y="1691640"/>
            <a:ext cx="10424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purpose-built digital registry for maxillofacial prosthetic rehabilitation</a:t>
            </a:r>
            <a:endParaRPr lang="en-US" sz="3300" dirty="0"/>
          </a:p>
        </p:txBody>
      </p:sp>
      <p:sp>
        <p:nvSpPr>
          <p:cNvPr id="7" name="Text 4"/>
          <p:cNvSpPr/>
          <p:nvPr/>
        </p:nvSpPr>
        <p:spPr>
          <a:xfrm>
            <a:off x="822960" y="315468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i="1" dirty="0">
                <a:solidFill>
                  <a:srgbClr val="CFE6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 and baseline cohort of 144 patients</a:t>
            </a:r>
            <a:endParaRPr lang="en-US" sz="2100" dirty="0"/>
          </a:p>
        </p:txBody>
      </p:sp>
      <p:sp>
        <p:nvSpPr>
          <p:cNvPr id="8" name="Shape 5"/>
          <p:cNvSpPr/>
          <p:nvPr/>
        </p:nvSpPr>
        <p:spPr>
          <a:xfrm>
            <a:off x="841248" y="3886200"/>
            <a:ext cx="2194560" cy="0"/>
          </a:xfrm>
          <a:prstGeom prst="line">
            <a:avLst/>
          </a:prstGeom>
          <a:noFill/>
          <a:ln w="31750">
            <a:solidFill>
              <a:srgbClr val="12B88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411480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[Author A, Author B, …]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F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[Department / Clinic, City, Hungary]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22960" y="60807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&amp; baseline-cohort presentation · placeholders [in brackets] to be completed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F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B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a dedicated registry?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6B7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Maxillofacial prosthetic rehabilitation is low-volume, highly heterogeneous and interdisciplinary — conditions under which routine records rarely yield analysable outcome data.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5349240" cy="1691640"/>
          </a:xfrm>
          <a:prstGeom prst="rect">
            <a:avLst/>
          </a:prstGeom>
          <a:solidFill>
            <a:srgbClr val="F1F6F6"/>
          </a:solidFill>
          <a:ln/>
        </p:spPr>
      </p:sp>
      <p:sp>
        <p:nvSpPr>
          <p:cNvPr id="6" name="Shape 4"/>
          <p:cNvSpPr/>
          <p:nvPr/>
        </p:nvSpPr>
        <p:spPr>
          <a:xfrm>
            <a:off x="932688" y="2560320"/>
            <a:ext cx="868680" cy="868680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F6E6E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2770632"/>
            <a:ext cx="448056" cy="44805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011680" y="2441448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B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Heterogeneous, low-volume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2011680" y="292608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Post-oncologic, congenital and traumatic defects; small numbers per centre limit single-study power.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309360" y="2148840"/>
            <a:ext cx="5349240" cy="1691640"/>
          </a:xfrm>
          <a:prstGeom prst="rect">
            <a:avLst/>
          </a:prstGeom>
          <a:solidFill>
            <a:srgbClr val="F1F6F6"/>
          </a:solidFill>
          <a:ln/>
        </p:spPr>
      </p:sp>
      <p:sp>
        <p:nvSpPr>
          <p:cNvPr id="11" name="Shape 8"/>
          <p:cNvSpPr/>
          <p:nvPr/>
        </p:nvSpPr>
        <p:spPr>
          <a:xfrm>
            <a:off x="6601968" y="2560320"/>
            <a:ext cx="868680" cy="868680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F6E6E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2770632"/>
            <a:ext cx="448056" cy="44805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680960" y="2441448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B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Fragmented documentation</a:t>
            </a:r>
            <a:endParaRPr lang="en-US" sz="1650" dirty="0"/>
          </a:p>
        </p:txBody>
      </p:sp>
      <p:sp>
        <p:nvSpPr>
          <p:cNvPr id="14" name="Text 10"/>
          <p:cNvSpPr/>
          <p:nvPr/>
        </p:nvSpPr>
        <p:spPr>
          <a:xfrm>
            <a:off x="7680960" y="292608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Free-text notes and scattered files make standardised, longitudinal outcome capture impractical.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40080" y="4114800"/>
            <a:ext cx="5349240" cy="1691640"/>
          </a:xfrm>
          <a:prstGeom prst="rect">
            <a:avLst/>
          </a:prstGeom>
          <a:solidFill>
            <a:srgbClr val="F1F6F6"/>
          </a:solidFill>
          <a:ln/>
        </p:spPr>
      </p:sp>
      <p:sp>
        <p:nvSpPr>
          <p:cNvPr id="16" name="Shape 12"/>
          <p:cNvSpPr/>
          <p:nvPr/>
        </p:nvSpPr>
        <p:spPr>
          <a:xfrm>
            <a:off x="932688" y="4526280"/>
            <a:ext cx="868680" cy="868680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F6E6E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4736592"/>
            <a:ext cx="448056" cy="44805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2011680" y="4407408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B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Outcome data is scarce</a:t>
            </a:r>
            <a:endParaRPr lang="en-US" sz="1650" dirty="0"/>
          </a:p>
        </p:txBody>
      </p:sp>
      <p:sp>
        <p:nvSpPr>
          <p:cNvPr id="19" name="Text 14"/>
          <p:cNvSpPr/>
          <p:nvPr/>
        </p:nvSpPr>
        <p:spPr>
          <a:xfrm>
            <a:off x="2011680" y="489204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Patient-reported quality of life (OHIP-14) and treatment-burden metrics are seldom collected systematically.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6309360" y="4114800"/>
            <a:ext cx="5349240" cy="1691640"/>
          </a:xfrm>
          <a:prstGeom prst="rect">
            <a:avLst/>
          </a:prstGeom>
          <a:solidFill>
            <a:srgbClr val="F1F6F6"/>
          </a:solidFill>
          <a:ln/>
        </p:spPr>
      </p:sp>
      <p:sp>
        <p:nvSpPr>
          <p:cNvPr id="21" name="Shape 16"/>
          <p:cNvSpPr/>
          <p:nvPr/>
        </p:nvSpPr>
        <p:spPr>
          <a:xfrm>
            <a:off x="6601968" y="4526280"/>
            <a:ext cx="868680" cy="868680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F6E6E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2280" y="4736592"/>
            <a:ext cx="448056" cy="44805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680960" y="4407408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B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Routine care as data source</a:t>
            </a:r>
            <a:endParaRPr lang="en-US" sz="1650" dirty="0"/>
          </a:p>
        </p:txBody>
      </p:sp>
      <p:sp>
        <p:nvSpPr>
          <p:cNvPr id="24" name="Text 18"/>
          <p:cNvSpPr/>
          <p:nvPr/>
        </p:nvSpPr>
        <p:spPr>
          <a:xfrm>
            <a:off x="7680960" y="489204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structured, classification-driven registry can turn everyday clinical work into research-ready data.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1143000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26" name="Text 20"/>
          <p:cNvSpPr/>
          <p:nvPr/>
        </p:nvSpPr>
        <p:spPr>
          <a:xfrm>
            <a:off x="640080" y="63550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EPA 2026 · Prague · Maxillofacial prosthetic rehabilitation registry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2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2B8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Objective of this work</a:t>
            </a:r>
            <a:endParaRPr lang="en-US" sz="29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286000"/>
            <a:ext cx="1005840" cy="10058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194560" y="2194560"/>
            <a:ext cx="9052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23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 describe the design of a purpose-built digital registry for maxillofacial prosthetic rehabilitation, and to report the baseline characteristics of the enrolled cohort.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2212848" y="3703320"/>
            <a:ext cx="8778240" cy="0"/>
          </a:xfrm>
          <a:prstGeom prst="line">
            <a:avLst/>
          </a:prstGeom>
          <a:noFill/>
          <a:ln w="12700">
            <a:solidFill>
              <a:srgbClr val="0F6E6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194560" y="3886200"/>
            <a:ext cx="9052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2B8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CF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pre-specify the longitudinal hypotheses and statistical models the registry is designed to support, once follow-up has accrued.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143000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F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40080" y="63550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EPA 2026 · Prague · Maxillofacial prosthetic rehabilitation registry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F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B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Registry design: structured, classification-driven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6B7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Single-centre tertiary unit. Data captured prospectively during routine care, on a PostgreSQL-backed platform, using standardised clinical classifications.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5349240" cy="1691640"/>
          </a:xfrm>
          <a:prstGeom prst="rect">
            <a:avLst/>
          </a:prstGeom>
          <a:solidFill>
            <a:srgbClr val="F1F6F6"/>
          </a:solidFill>
          <a:ln/>
        </p:spPr>
      </p:sp>
      <p:sp>
        <p:nvSpPr>
          <p:cNvPr id="6" name="Shape 4"/>
          <p:cNvSpPr/>
          <p:nvPr/>
        </p:nvSpPr>
        <p:spPr>
          <a:xfrm>
            <a:off x="932688" y="2560320"/>
            <a:ext cx="868680" cy="868680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F6E6E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2770632"/>
            <a:ext cx="448056" cy="44805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011680" y="2441448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B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Standardised intake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2011680" y="292608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Demographics, referral, oncologic history, adjuvant therapy (radiotherapy dose, chemotherapy).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309360" y="2148840"/>
            <a:ext cx="5349240" cy="1691640"/>
          </a:xfrm>
          <a:prstGeom prst="rect">
            <a:avLst/>
          </a:prstGeom>
          <a:solidFill>
            <a:srgbClr val="F1F6F6"/>
          </a:solidFill>
          <a:ln/>
        </p:spPr>
      </p:sp>
      <p:sp>
        <p:nvSpPr>
          <p:cNvPr id="11" name="Shape 8"/>
          <p:cNvSpPr/>
          <p:nvPr/>
        </p:nvSpPr>
        <p:spPr>
          <a:xfrm>
            <a:off x="6601968" y="2560320"/>
            <a:ext cx="868680" cy="868680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F6E6E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2770632"/>
            <a:ext cx="448056" cy="44805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680960" y="2441448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B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Defect classifications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7680960" y="292608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Maxilla — Brown; mandible — Kovács-Dobák; prosthetic status — Fábián-Fejérdy; TNM staging.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40080" y="4114800"/>
            <a:ext cx="5349240" cy="1691640"/>
          </a:xfrm>
          <a:prstGeom prst="rect">
            <a:avLst/>
          </a:prstGeom>
          <a:solidFill>
            <a:srgbClr val="F1F6F6"/>
          </a:solidFill>
          <a:ln/>
        </p:spPr>
      </p:sp>
      <p:sp>
        <p:nvSpPr>
          <p:cNvPr id="16" name="Shape 12"/>
          <p:cNvSpPr/>
          <p:nvPr/>
        </p:nvSpPr>
        <p:spPr>
          <a:xfrm>
            <a:off x="932688" y="4526280"/>
            <a:ext cx="868680" cy="868680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F6E6E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4736592"/>
            <a:ext cx="448056" cy="44805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2011680" y="4407408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B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Dental &amp; prosthetic status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2011680" y="489204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teeth (Zsigmondy), implants and prostheses captured as structured records.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6309360" y="4114800"/>
            <a:ext cx="5349240" cy="1691640"/>
          </a:xfrm>
          <a:prstGeom prst="rect">
            <a:avLst/>
          </a:prstGeom>
          <a:solidFill>
            <a:srgbClr val="F1F6F6"/>
          </a:solidFill>
          <a:ln/>
        </p:spPr>
      </p:sp>
      <p:sp>
        <p:nvSpPr>
          <p:cNvPr id="21" name="Shape 16"/>
          <p:cNvSpPr/>
          <p:nvPr/>
        </p:nvSpPr>
        <p:spPr>
          <a:xfrm>
            <a:off x="6601968" y="4526280"/>
            <a:ext cx="868680" cy="868680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F6E6E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2280" y="4736592"/>
            <a:ext cx="448056" cy="44805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680960" y="4407408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B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Outcome instrument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7680960" y="489204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OHIP-14 patient-reported quality of life, staged at fixed timepoints (T0–T3).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1143000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6" name="Text 20"/>
          <p:cNvSpPr/>
          <p:nvPr/>
        </p:nvSpPr>
        <p:spPr>
          <a:xfrm>
            <a:off x="640080" y="63550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EPA 2026 · Prague · Maxillofacial prosthetic rehabilitation registry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2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2B8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Care coordination &amp; automated data capture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CF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platform runs the clinic — so data quality is a by-product of routine workflow, not an extra task.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240280"/>
            <a:ext cx="5349240" cy="1691640"/>
          </a:xfrm>
          <a:prstGeom prst="rect">
            <a:avLst/>
          </a:prstGeom>
          <a:solidFill>
            <a:srgbClr val="0B4F4F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32688" y="2651760"/>
            <a:ext cx="868680" cy="868680"/>
          </a:xfrm>
          <a:prstGeom prst="ellipse">
            <a:avLst/>
          </a:prstGeom>
          <a:solidFill>
            <a:srgbClr val="0B2A3A"/>
          </a:solidFill>
          <a:ln w="17780">
            <a:solidFill>
              <a:srgbClr val="12B886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2862072"/>
            <a:ext cx="448056" cy="44805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011680" y="2532888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Deterministic scheduling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2011680" y="301752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F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Care-pathway templates drive booking; a built-in no-show risk model flags high-risk visits.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309360" y="2240280"/>
            <a:ext cx="5349240" cy="1691640"/>
          </a:xfrm>
          <a:prstGeom prst="rect">
            <a:avLst/>
          </a:prstGeom>
          <a:solidFill>
            <a:srgbClr val="0B4F4F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601968" y="2651760"/>
            <a:ext cx="868680" cy="868680"/>
          </a:xfrm>
          <a:prstGeom prst="ellipse">
            <a:avLst/>
          </a:prstGeom>
          <a:solidFill>
            <a:srgbClr val="0B2A3A"/>
          </a:solidFill>
          <a:ln w="17780">
            <a:solidFill>
              <a:srgbClr val="12B886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2862072"/>
            <a:ext cx="448056" cy="44805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680960" y="2532888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Treatment-plan engine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7680960" y="301752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F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Next-step computation and visit-count forecasting (P50/P80) per treatment episode.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40080" y="4206240"/>
            <a:ext cx="5349240" cy="1691640"/>
          </a:xfrm>
          <a:prstGeom prst="rect">
            <a:avLst/>
          </a:prstGeom>
          <a:solidFill>
            <a:srgbClr val="0B4F4F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932688" y="4617720"/>
            <a:ext cx="868680" cy="868680"/>
          </a:xfrm>
          <a:prstGeom prst="ellipse">
            <a:avLst/>
          </a:prstGeom>
          <a:solidFill>
            <a:srgbClr val="0B2A3A"/>
          </a:solidFill>
          <a:ln w="17780">
            <a:solidFill>
              <a:srgbClr val="12B886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4828032"/>
            <a:ext cx="448056" cy="44805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2011680" y="4498848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Multidisciplinary consilium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2011680" y="498348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F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case conferences with invitations, decisions and delegated tasks — audit-tracked.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6309360" y="4206240"/>
            <a:ext cx="5349240" cy="1691640"/>
          </a:xfrm>
          <a:prstGeom prst="rect">
            <a:avLst/>
          </a:prstGeom>
          <a:solidFill>
            <a:srgbClr val="0B4F4F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601968" y="4617720"/>
            <a:ext cx="868680" cy="868680"/>
          </a:xfrm>
          <a:prstGeom prst="ellipse">
            <a:avLst/>
          </a:prstGeom>
          <a:solidFill>
            <a:srgbClr val="0B2A3A"/>
          </a:solidFill>
          <a:ln w="17780">
            <a:solidFill>
              <a:srgbClr val="12B886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2280" y="4828032"/>
            <a:ext cx="448056" cy="44805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680960" y="4498848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Automated reminders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7680960" y="498348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F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jobs for OHIP-14 follow-up, recall tasks and missing-data escalation.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1143000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F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26" name="Text 20"/>
          <p:cNvSpPr/>
          <p:nvPr/>
        </p:nvSpPr>
        <p:spPr>
          <a:xfrm>
            <a:off x="640080" y="63550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EPA 2026 · Prague · Maxillofacial prosthetic rehabilitation registry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2B8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B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Baseline cohort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2514600" cy="1371600"/>
          </a:xfrm>
          <a:prstGeom prst="rect">
            <a:avLst/>
          </a:prstGeom>
          <a:solidFill>
            <a:srgbClr val="F1F6F6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554480"/>
            <a:ext cx="91440" cy="1371600"/>
          </a:xfrm>
          <a:prstGeom prst="rect">
            <a:avLst/>
          </a:prstGeom>
          <a:solidFill>
            <a:srgbClr val="12B886"/>
          </a:solidFill>
          <a:ln/>
        </p:spPr>
      </p:sp>
      <p:sp>
        <p:nvSpPr>
          <p:cNvPr id="6" name="Text 4"/>
          <p:cNvSpPr/>
          <p:nvPr/>
        </p:nvSpPr>
        <p:spPr>
          <a:xfrm>
            <a:off x="896112" y="1664208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4F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144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896112" y="2231136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enrolled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96112" y="2523744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142 living · 2 deceased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310128" y="1554480"/>
            <a:ext cx="2514600" cy="1371600"/>
          </a:xfrm>
          <a:prstGeom prst="rect">
            <a:avLst/>
          </a:prstGeom>
          <a:solidFill>
            <a:srgbClr val="F1F6F6"/>
          </a:solidFill>
          <a:ln/>
        </p:spPr>
      </p:sp>
      <p:sp>
        <p:nvSpPr>
          <p:cNvPr id="10" name="Shape 8"/>
          <p:cNvSpPr/>
          <p:nvPr/>
        </p:nvSpPr>
        <p:spPr>
          <a:xfrm>
            <a:off x="3310128" y="1554480"/>
            <a:ext cx="91440" cy="1371600"/>
          </a:xfrm>
          <a:prstGeom prst="rect">
            <a:avLst/>
          </a:prstGeom>
          <a:solidFill>
            <a:srgbClr val="0F6E6E"/>
          </a:solidFill>
          <a:ln/>
        </p:spPr>
      </p:sp>
      <p:sp>
        <p:nvSpPr>
          <p:cNvPr id="11" name="Text 9"/>
          <p:cNvSpPr/>
          <p:nvPr/>
        </p:nvSpPr>
        <p:spPr>
          <a:xfrm>
            <a:off x="3566160" y="1664208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4F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86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566160" y="2231136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 episodes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566160" y="2523744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 open · 8 closed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40080" y="3063240"/>
            <a:ext cx="2514600" cy="1371600"/>
          </a:xfrm>
          <a:prstGeom prst="rect">
            <a:avLst/>
          </a:prstGeom>
          <a:solidFill>
            <a:srgbClr val="F1F6F6"/>
          </a:solidFill>
          <a:ln/>
        </p:spPr>
      </p:sp>
      <p:sp>
        <p:nvSpPr>
          <p:cNvPr id="15" name="Shape 13"/>
          <p:cNvSpPr/>
          <p:nvPr/>
        </p:nvSpPr>
        <p:spPr>
          <a:xfrm>
            <a:off x="640080" y="3063240"/>
            <a:ext cx="91440" cy="137160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6" name="Text 14"/>
          <p:cNvSpPr/>
          <p:nvPr/>
        </p:nvSpPr>
        <p:spPr>
          <a:xfrm>
            <a:off x="896112" y="3172968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4F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63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896112" y="3739896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age (years)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96112" y="4032504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54% female (of known sex)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310128" y="3063240"/>
            <a:ext cx="2514600" cy="1371600"/>
          </a:xfrm>
          <a:prstGeom prst="rect">
            <a:avLst/>
          </a:prstGeom>
          <a:solidFill>
            <a:srgbClr val="F1F6F6"/>
          </a:solidFill>
          <a:ln/>
        </p:spPr>
      </p:sp>
      <p:sp>
        <p:nvSpPr>
          <p:cNvPr id="20" name="Shape 18"/>
          <p:cNvSpPr/>
          <p:nvPr/>
        </p:nvSpPr>
        <p:spPr>
          <a:xfrm>
            <a:off x="3310128" y="3063240"/>
            <a:ext cx="91440" cy="1371600"/>
          </a:xfrm>
          <a:prstGeom prst="rect">
            <a:avLst/>
          </a:prstGeom>
          <a:solidFill>
            <a:srgbClr val="0F6E6E"/>
          </a:solidFill>
          <a:ln/>
        </p:spPr>
      </p:sp>
      <p:sp>
        <p:nvSpPr>
          <p:cNvPr id="21" name="Text 19"/>
          <p:cNvSpPr/>
          <p:nvPr/>
        </p:nvSpPr>
        <p:spPr>
          <a:xfrm>
            <a:off x="3566160" y="3172968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4F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275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3566160" y="3739896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documents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3566160" y="4032504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82 patients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400800" y="15544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4F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Etiology of treatment episodes</a:t>
            </a:r>
            <a:endParaRPr lang="en-US" sz="1500" dirty="0"/>
          </a:p>
        </p:txBody>
      </p:sp>
      <p:graphicFrame>
        <p:nvGraphicFramePr>
          <p:cNvPr id="25" name="Chart 0" descr=""/>
          <p:cNvGraphicFramePr/>
          <p:nvPr/>
        </p:nvGraphicFramePr>
        <p:xfrm>
          <a:off x="6400800" y="1874520"/>
          <a:ext cx="512064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6" name="Text 23"/>
          <p:cNvSpPr/>
          <p:nvPr/>
        </p:nvSpPr>
        <p:spPr>
          <a:xfrm>
            <a:off x="640080" y="480060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Post-oncologic defects predominate (≈76%).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1143000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640080" y="63550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EPA 2026 · Prague · Maxillofacial prosthetic rehabilitation registry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2B8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B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Oncologic burden &amp; defect profile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520440" cy="1371600"/>
          </a:xfrm>
          <a:prstGeom prst="rect">
            <a:avLst/>
          </a:prstGeom>
          <a:solidFill>
            <a:srgbClr val="F1F6F6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783080"/>
            <a:ext cx="91440" cy="1371600"/>
          </a:xfrm>
          <a:prstGeom prst="rect">
            <a:avLst/>
          </a:prstGeom>
          <a:solidFill>
            <a:srgbClr val="0F6E6E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892808"/>
            <a:ext cx="1280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B4F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31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2194560" y="1892808"/>
            <a:ext cx="1783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E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radiotherapy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B7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dose 53.3 Gy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453128" y="1783080"/>
            <a:ext cx="3520440" cy="1371600"/>
          </a:xfrm>
          <a:prstGeom prst="rect">
            <a:avLst/>
          </a:prstGeom>
          <a:solidFill>
            <a:srgbClr val="F1F6F6"/>
          </a:solidFill>
          <a:ln/>
        </p:spPr>
      </p:sp>
      <p:sp>
        <p:nvSpPr>
          <p:cNvPr id="9" name="Shape 7"/>
          <p:cNvSpPr/>
          <p:nvPr/>
        </p:nvSpPr>
        <p:spPr>
          <a:xfrm>
            <a:off x="4453128" y="1783080"/>
            <a:ext cx="91440" cy="1371600"/>
          </a:xfrm>
          <a:prstGeom prst="rect">
            <a:avLst/>
          </a:prstGeom>
          <a:solidFill>
            <a:srgbClr val="0F6E6E"/>
          </a:solidFill>
          <a:ln/>
        </p:spPr>
      </p:sp>
      <p:sp>
        <p:nvSpPr>
          <p:cNvPr id="10" name="Text 8"/>
          <p:cNvSpPr/>
          <p:nvPr/>
        </p:nvSpPr>
        <p:spPr>
          <a:xfrm>
            <a:off x="4727448" y="1892808"/>
            <a:ext cx="1280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B4F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28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6007608" y="1892808"/>
            <a:ext cx="1783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E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TNM-staged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B7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oncologic cases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266176" y="1783080"/>
            <a:ext cx="3520440" cy="1371600"/>
          </a:xfrm>
          <a:prstGeom prst="rect">
            <a:avLst/>
          </a:prstGeom>
          <a:solidFill>
            <a:srgbClr val="F1F6F6"/>
          </a:solidFill>
          <a:ln/>
        </p:spPr>
      </p:sp>
      <p:sp>
        <p:nvSpPr>
          <p:cNvPr id="13" name="Shape 11"/>
          <p:cNvSpPr/>
          <p:nvPr/>
        </p:nvSpPr>
        <p:spPr>
          <a:xfrm>
            <a:off x="8266176" y="1783080"/>
            <a:ext cx="91440" cy="1371600"/>
          </a:xfrm>
          <a:prstGeom prst="rect">
            <a:avLst/>
          </a:prstGeom>
          <a:solidFill>
            <a:srgbClr val="0F6E6E"/>
          </a:solidFill>
          <a:ln/>
        </p:spPr>
      </p:sp>
      <p:sp>
        <p:nvSpPr>
          <p:cNvPr id="14" name="Text 12"/>
          <p:cNvSpPr/>
          <p:nvPr/>
        </p:nvSpPr>
        <p:spPr>
          <a:xfrm>
            <a:off x="8540496" y="1892808"/>
            <a:ext cx="1280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B4F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9820656" y="1892808"/>
            <a:ext cx="1783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E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chemotherapy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B7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3429000"/>
            <a:ext cx="3520440" cy="1371600"/>
          </a:xfrm>
          <a:prstGeom prst="rect">
            <a:avLst/>
          </a:prstGeom>
          <a:solidFill>
            <a:srgbClr val="F1F6F6"/>
          </a:solidFill>
          <a:ln/>
        </p:spPr>
      </p:sp>
      <p:sp>
        <p:nvSpPr>
          <p:cNvPr id="17" name="Shape 15"/>
          <p:cNvSpPr/>
          <p:nvPr/>
        </p:nvSpPr>
        <p:spPr>
          <a:xfrm>
            <a:off x="640080" y="3429000"/>
            <a:ext cx="91440" cy="137160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3538728"/>
            <a:ext cx="1280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B4F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</a:t>
            </a:r>
            <a:endParaRPr lang="en-US" sz="4000" dirty="0"/>
          </a:p>
        </p:txBody>
      </p:sp>
      <p:sp>
        <p:nvSpPr>
          <p:cNvPr id="19" name="Text 17"/>
          <p:cNvSpPr/>
          <p:nvPr/>
        </p:nvSpPr>
        <p:spPr>
          <a:xfrm>
            <a:off x="2194560" y="3538728"/>
            <a:ext cx="1783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E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maxillary defects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B7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Brown-classified: 13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453128" y="3429000"/>
            <a:ext cx="3520440" cy="1371600"/>
          </a:xfrm>
          <a:prstGeom prst="rect">
            <a:avLst/>
          </a:prstGeom>
          <a:solidFill>
            <a:srgbClr val="F1F6F6"/>
          </a:solidFill>
          <a:ln/>
        </p:spPr>
      </p:sp>
      <p:sp>
        <p:nvSpPr>
          <p:cNvPr id="21" name="Shape 19"/>
          <p:cNvSpPr/>
          <p:nvPr/>
        </p:nvSpPr>
        <p:spPr>
          <a:xfrm>
            <a:off x="4453128" y="3429000"/>
            <a:ext cx="91440" cy="137160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22" name="Text 20"/>
          <p:cNvSpPr/>
          <p:nvPr/>
        </p:nvSpPr>
        <p:spPr>
          <a:xfrm>
            <a:off x="4727448" y="3538728"/>
            <a:ext cx="1280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B4F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</a:t>
            </a:r>
            <a:endParaRPr lang="en-US" sz="4000" dirty="0"/>
          </a:p>
        </p:txBody>
      </p:sp>
      <p:sp>
        <p:nvSpPr>
          <p:cNvPr id="23" name="Text 21"/>
          <p:cNvSpPr/>
          <p:nvPr/>
        </p:nvSpPr>
        <p:spPr>
          <a:xfrm>
            <a:off x="6007608" y="3538728"/>
            <a:ext cx="1783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E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mandibular defects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B7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Kovács-Dobák: 10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8266176" y="3429000"/>
            <a:ext cx="3520440" cy="1371600"/>
          </a:xfrm>
          <a:prstGeom prst="rect">
            <a:avLst/>
          </a:prstGeom>
          <a:solidFill>
            <a:srgbClr val="F1F6F6"/>
          </a:solidFill>
          <a:ln/>
        </p:spPr>
      </p:sp>
      <p:sp>
        <p:nvSpPr>
          <p:cNvPr id="25" name="Shape 23"/>
          <p:cNvSpPr/>
          <p:nvPr/>
        </p:nvSpPr>
        <p:spPr>
          <a:xfrm>
            <a:off x="8266176" y="3429000"/>
            <a:ext cx="91440" cy="1371600"/>
          </a:xfrm>
          <a:prstGeom prst="rect">
            <a:avLst/>
          </a:prstGeom>
          <a:solidFill>
            <a:srgbClr val="12B886"/>
          </a:solidFill>
          <a:ln/>
        </p:spPr>
      </p:sp>
      <p:sp>
        <p:nvSpPr>
          <p:cNvPr id="26" name="Text 24"/>
          <p:cNvSpPr/>
          <p:nvPr/>
        </p:nvSpPr>
        <p:spPr>
          <a:xfrm>
            <a:off x="8540496" y="3538728"/>
            <a:ext cx="1280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B4F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44</a:t>
            </a:r>
            <a:endParaRPr lang="en-US" sz="4000" dirty="0"/>
          </a:p>
        </p:txBody>
      </p:sp>
      <p:sp>
        <p:nvSpPr>
          <p:cNvPr id="27" name="Text 25"/>
          <p:cNvSpPr/>
          <p:nvPr/>
        </p:nvSpPr>
        <p:spPr>
          <a:xfrm>
            <a:off x="9820656" y="3538728"/>
            <a:ext cx="1783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E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Fábián-Fejérdy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B7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prosthetic class recorded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40080" y="54406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Predominantly post-oncologic, irradiated, adult cohort — the population in which prosthetic rehabilitation is most demanding.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1143000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40080" y="63550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EPA 2026 · Prague · Maxillofacial prosthetic rehabilitation registry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2B8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·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B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Care delivery &amp; data capture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4F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Appointment outcomes (realised visits)</a:t>
            </a:r>
            <a:endParaRPr lang="en-US" sz="15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02920" y="1965960"/>
          <a:ext cx="548640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6400800" y="1783080"/>
            <a:ext cx="5120640" cy="1371600"/>
          </a:xfrm>
          <a:prstGeom prst="rect">
            <a:avLst/>
          </a:prstGeom>
          <a:solidFill>
            <a:srgbClr val="F1F6F6"/>
          </a:solidFill>
          <a:ln/>
        </p:spPr>
      </p:sp>
      <p:sp>
        <p:nvSpPr>
          <p:cNvPr id="7" name="Shape 4"/>
          <p:cNvSpPr/>
          <p:nvPr/>
        </p:nvSpPr>
        <p:spPr>
          <a:xfrm>
            <a:off x="6400800" y="1783080"/>
            <a:ext cx="91440" cy="1371600"/>
          </a:xfrm>
          <a:prstGeom prst="rect">
            <a:avLst/>
          </a:prstGeom>
          <a:solidFill>
            <a:srgbClr val="0F6E6E"/>
          </a:solidFill>
          <a:ln/>
        </p:spPr>
      </p:sp>
      <p:sp>
        <p:nvSpPr>
          <p:cNvPr id="8" name="Text 5"/>
          <p:cNvSpPr/>
          <p:nvPr/>
        </p:nvSpPr>
        <p:spPr>
          <a:xfrm>
            <a:off x="6656832" y="1892808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4F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329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6656832" y="2459736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appointments scheduled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6656832" y="2752344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101 patients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400800" y="3291840"/>
            <a:ext cx="5120640" cy="1371600"/>
          </a:xfrm>
          <a:prstGeom prst="rect">
            <a:avLst/>
          </a:prstGeom>
          <a:solidFill>
            <a:srgbClr val="E3EFEF"/>
          </a:solidFill>
          <a:ln/>
        </p:spPr>
      </p:sp>
      <p:sp>
        <p:nvSpPr>
          <p:cNvPr id="12" name="Shape 9"/>
          <p:cNvSpPr/>
          <p:nvPr/>
        </p:nvSpPr>
        <p:spPr>
          <a:xfrm>
            <a:off x="6400800" y="3291840"/>
            <a:ext cx="91440" cy="1371600"/>
          </a:xfrm>
          <a:prstGeom prst="rect">
            <a:avLst/>
          </a:prstGeom>
          <a:solidFill>
            <a:srgbClr val="12B886"/>
          </a:solidFill>
          <a:ln/>
        </p:spPr>
      </p:sp>
      <p:sp>
        <p:nvSpPr>
          <p:cNvPr id="13" name="Text 10"/>
          <p:cNvSpPr/>
          <p:nvPr/>
        </p:nvSpPr>
        <p:spPr>
          <a:xfrm>
            <a:off x="6656832" y="338328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4F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4.4%</a:t>
            </a:r>
            <a:endParaRPr lang="en-US" sz="3000" dirty="0"/>
          </a:p>
        </p:txBody>
      </p:sp>
      <p:sp>
        <p:nvSpPr>
          <p:cNvPr id="14" name="Text 11"/>
          <p:cNvSpPr/>
          <p:nvPr/>
        </p:nvSpPr>
        <p:spPr>
          <a:xfrm>
            <a:off x="6656832" y="3950208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E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observed no-show rate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B7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model-predicted mean risk 0.044 — well-calibrated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6400800" y="484632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</a:t>
            </a:r>
            <a:pPr indent="0" marL="0">
              <a:buNone/>
            </a:pPr>
            <a:r>
              <a:rPr lang="en-US" sz="1250" dirty="0">
                <a:solidFill>
                  <a:srgbClr val="1E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consilium sessions · </a:t>
            </a:r>
            <a:pPr indent="0" marL="0">
              <a:buNone/>
            </a:pPr>
            <a:r>
              <a:rPr lang="en-US" sz="1250" b="1" dirty="0">
                <a:solidFill>
                  <a:srgbClr val="0B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</a:t>
            </a:r>
            <a:pPr indent="0" marL="0">
              <a:buNone/>
            </a:pPr>
            <a:r>
              <a:rPr lang="en-US" sz="1250" dirty="0">
                <a:solidFill>
                  <a:srgbClr val="1E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cases discussed · </a:t>
            </a:r>
            <a:pPr indent="0" marL="0">
              <a:buNone/>
            </a:pPr>
            <a:r>
              <a:rPr lang="en-US" sz="1250" b="1" dirty="0">
                <a:solidFill>
                  <a:srgbClr val="0B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</a:t>
            </a:r>
            <a:pPr indent="0" marL="0">
              <a:buNone/>
            </a:pPr>
            <a:r>
              <a:rPr lang="en-US" sz="1250" dirty="0">
                <a:solidFill>
                  <a:srgbClr val="1E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care-pathway templates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640080" y="54406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OHIP-14 baseline (T0) captured in 30 patients — mean 25.4 (SD 12.6); follow-up accrual ongoing.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1143000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640080" y="63550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EPA 2026 · Prague · Maxillofacial prosthetic rehabilitation registry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2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ANALYSES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registry is built to answer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CF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Pre-specified once longitudinal follow-up matures — the data structure already supports these designs.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240280"/>
            <a:ext cx="5349240" cy="1554480"/>
          </a:xfrm>
          <a:prstGeom prst="rect">
            <a:avLst/>
          </a:prstGeom>
          <a:solidFill>
            <a:srgbClr val="0B4F4F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532888"/>
            <a:ext cx="548640" cy="54864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5328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600200" y="2468880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OHIP-14 trajectories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600200" y="2898648"/>
            <a:ext cx="4160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80" dirty="0">
                <a:solidFill>
                  <a:srgbClr val="CF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QoL change after prosthetic rehabilitation (T0→T3) by defect severity — linear mixed-effects models.</a:t>
            </a:r>
            <a:endParaRPr lang="en-US" sz="1180" dirty="0"/>
          </a:p>
        </p:txBody>
      </p:sp>
      <p:sp>
        <p:nvSpPr>
          <p:cNvPr id="10" name="Shape 8"/>
          <p:cNvSpPr/>
          <p:nvPr/>
        </p:nvSpPr>
        <p:spPr>
          <a:xfrm>
            <a:off x="6309360" y="2240280"/>
            <a:ext cx="5349240" cy="1554480"/>
          </a:xfrm>
          <a:prstGeom prst="rect">
            <a:avLst/>
          </a:prstGeom>
          <a:solidFill>
            <a:srgbClr val="0B4F4F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583680" y="2532888"/>
            <a:ext cx="548640" cy="54864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0" y="25328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269480" y="2468880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Treatment burden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269480" y="2898648"/>
            <a:ext cx="4160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80" dirty="0">
                <a:solidFill>
                  <a:srgbClr val="CF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Time-to-delivery and visit count vs. defect class and radiotherapy — survival &amp; count regression.</a:t>
            </a:r>
            <a:endParaRPr lang="en-US" sz="1180" dirty="0"/>
          </a:p>
        </p:txBody>
      </p:sp>
      <p:sp>
        <p:nvSpPr>
          <p:cNvPr id="15" name="Shape 13"/>
          <p:cNvSpPr/>
          <p:nvPr/>
        </p:nvSpPr>
        <p:spPr>
          <a:xfrm>
            <a:off x="640080" y="4050792"/>
            <a:ext cx="5349240" cy="1554480"/>
          </a:xfrm>
          <a:prstGeom prst="rect">
            <a:avLst/>
          </a:prstGeom>
          <a:solidFill>
            <a:srgbClr val="0B4F4F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914400" y="4343400"/>
            <a:ext cx="548640" cy="54864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4343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600200" y="4279392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Implant vs. conventional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00200" y="4709160"/>
            <a:ext cx="4160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80" dirty="0">
                <a:solidFill>
                  <a:srgbClr val="CF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Differential OHIP-14 gain, adjusted for defect class and irradiation.</a:t>
            </a:r>
            <a:endParaRPr lang="en-US" sz="1180" dirty="0"/>
          </a:p>
        </p:txBody>
      </p:sp>
      <p:sp>
        <p:nvSpPr>
          <p:cNvPr id="20" name="Shape 18"/>
          <p:cNvSpPr/>
          <p:nvPr/>
        </p:nvSpPr>
        <p:spPr>
          <a:xfrm>
            <a:off x="6309360" y="4050792"/>
            <a:ext cx="5349240" cy="1554480"/>
          </a:xfrm>
          <a:prstGeom prst="rect">
            <a:avLst/>
          </a:prstGeom>
          <a:solidFill>
            <a:srgbClr val="0B4F4F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583680" y="4343400"/>
            <a:ext cx="548640" cy="54864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2" name="Text 20"/>
          <p:cNvSpPr/>
          <p:nvPr/>
        </p:nvSpPr>
        <p:spPr>
          <a:xfrm>
            <a:off x="6583680" y="4343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269480" y="4279392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No-show prediction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269480" y="4709160"/>
            <a:ext cx="4160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80" dirty="0">
                <a:solidFill>
                  <a:srgbClr val="CF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validation of the built-in risk model — logistic regression, calibration.</a:t>
            </a:r>
            <a:endParaRPr lang="en-US" sz="1180" dirty="0"/>
          </a:p>
        </p:txBody>
      </p:sp>
      <p:sp>
        <p:nvSpPr>
          <p:cNvPr id="25" name="Text 23"/>
          <p:cNvSpPr/>
          <p:nvPr/>
        </p:nvSpPr>
        <p:spPr>
          <a:xfrm>
            <a:off x="1143000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F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40080" y="63550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EPA 2026 · Prague · Maxillofacial prosthetic rehabilitation registry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B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Limitations &amp; current status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6B7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Reported transparently — this is a baseline-and-methods report, not an outcome study.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240280"/>
            <a:ext cx="10881360" cy="841248"/>
          </a:xfrm>
          <a:prstGeom prst="rect">
            <a:avLst/>
          </a:prstGeom>
          <a:solidFill>
            <a:srgbClr val="FDF4E5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2487168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2240280"/>
            <a:ext cx="9784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E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Single-centre cohort; findings are descriptive and not yet generalisable.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40080" y="3191256"/>
            <a:ext cx="10881360" cy="841248"/>
          </a:xfrm>
          <a:prstGeom prst="rect">
            <a:avLst/>
          </a:prstGeom>
          <a:solidFill>
            <a:srgbClr val="FDF4E5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" y="3438144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08760" y="3191256"/>
            <a:ext cx="9784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E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Longitudinal OHIP-14 not yet mature — currently 1 patient with ≥2 timepoints; no paired T0→T2 yet.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40080" y="4142232"/>
            <a:ext cx="10881360" cy="841248"/>
          </a:xfrm>
          <a:prstGeom prst="rect">
            <a:avLst/>
          </a:prstGeom>
          <a:solidFill>
            <a:srgbClr val="FDF4E5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4389120"/>
            <a:ext cx="365760" cy="36576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508760" y="4142232"/>
            <a:ext cx="9784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E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classification fields incomplete; ongoing data curation and quality scoring.</a:t>
            </a:r>
            <a:endParaRPr lang="en-US" sz="1350" dirty="0"/>
          </a:p>
        </p:txBody>
      </p:sp>
      <p:sp>
        <p:nvSpPr>
          <p:cNvPr id="14" name="Shape 9"/>
          <p:cNvSpPr/>
          <p:nvPr/>
        </p:nvSpPr>
        <p:spPr>
          <a:xfrm>
            <a:off x="640080" y="5093208"/>
            <a:ext cx="10881360" cy="841248"/>
          </a:xfrm>
          <a:prstGeom prst="rect">
            <a:avLst/>
          </a:prstGeom>
          <a:solidFill>
            <a:srgbClr val="FDF4E5"/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" y="5340096"/>
            <a:ext cx="365760" cy="36576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508760" y="5093208"/>
            <a:ext cx="9784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E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consent and ethics (ETT TUKEB) approval pending — export-based analyses are future work.</a:t>
            </a:r>
            <a:endParaRPr lang="en-US" sz="1350" dirty="0"/>
          </a:p>
        </p:txBody>
      </p:sp>
      <p:sp>
        <p:nvSpPr>
          <p:cNvPr id="17" name="Text 11"/>
          <p:cNvSpPr/>
          <p:nvPr/>
        </p:nvSpPr>
        <p:spPr>
          <a:xfrm>
            <a:off x="1143000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640080" y="63550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EPA 2026 · Prague · Maxillofacial prosthetic rehabilitation registry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2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3474720"/>
            <a:ext cx="5943600" cy="5943600"/>
          </a:xfrm>
          <a:prstGeom prst="ellipse">
            <a:avLst/>
          </a:prstGeom>
          <a:solidFill>
            <a:srgbClr val="0B4F4F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822960" y="4663440"/>
            <a:ext cx="3657600" cy="3657600"/>
          </a:xfrm>
          <a:prstGeom prst="ellipse">
            <a:avLst/>
          </a:prstGeom>
          <a:solidFill>
            <a:srgbClr val="0F6E6E">
              <a:alpha val="3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12B8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132588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Routine care, captured as research-ready data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22960" y="2514600"/>
            <a:ext cx="3429000" cy="2468880"/>
          </a:xfrm>
          <a:prstGeom prst="rect">
            <a:avLst/>
          </a:prstGeom>
          <a:solidFill>
            <a:srgbClr val="0B4F4F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143000" y="2834640"/>
            <a:ext cx="868680" cy="868680"/>
          </a:xfrm>
          <a:prstGeom prst="ellipse">
            <a:avLst/>
          </a:prstGeom>
          <a:solidFill>
            <a:srgbClr val="0B2A3A"/>
          </a:solidFill>
          <a:ln w="19050">
            <a:solidFill>
              <a:srgbClr val="12B886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53312" y="3044952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43000" y="384048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working registry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143000" y="4343400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CF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144 patients, 86 episodes and 329 visits captured prospectively in routine care.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526280" y="2514600"/>
            <a:ext cx="3429000" cy="2468880"/>
          </a:xfrm>
          <a:prstGeom prst="rect">
            <a:avLst/>
          </a:prstGeom>
          <a:solidFill>
            <a:srgbClr val="0B4F4F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846320" y="2834640"/>
            <a:ext cx="868680" cy="868680"/>
          </a:xfrm>
          <a:prstGeom prst="ellipse">
            <a:avLst/>
          </a:prstGeom>
          <a:solidFill>
            <a:srgbClr val="0B2A3A"/>
          </a:solidFill>
          <a:ln w="19050">
            <a:solidFill>
              <a:srgbClr val="12B886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6632" y="3044952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846320" y="384048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Standardised &amp; structured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4846320" y="4343400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CF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 classifications and OHIP-14 baseline make the cohort analysable.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8229600" y="2514600"/>
            <a:ext cx="3429000" cy="2468880"/>
          </a:xfrm>
          <a:prstGeom prst="rect">
            <a:avLst/>
          </a:prstGeom>
          <a:solidFill>
            <a:srgbClr val="0B4F4F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549640" y="2834640"/>
            <a:ext cx="868680" cy="868680"/>
          </a:xfrm>
          <a:prstGeom prst="ellipse">
            <a:avLst/>
          </a:prstGeom>
          <a:solidFill>
            <a:srgbClr val="0B2A3A"/>
          </a:solidFill>
          <a:ln w="19050">
            <a:solidFill>
              <a:srgbClr val="12B886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59952" y="3044952"/>
            <a:ext cx="457200" cy="4572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549640" y="384048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for outcomes research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8549640" y="4343400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CF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Pre-specified longitudinal designs await follow-up accrual.</a:t>
            </a:r>
            <a:endParaRPr lang="en-US" sz="1150" dirty="0"/>
          </a:p>
        </p:txBody>
      </p:sp>
      <p:sp>
        <p:nvSpPr>
          <p:cNvPr id="21" name="Text 16"/>
          <p:cNvSpPr/>
          <p:nvPr/>
        </p:nvSpPr>
        <p:spPr>
          <a:xfrm>
            <a:off x="822960" y="53949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FE6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 — [author] · [institution] · [e-mail]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digital registry for maxillofacial prosthetic rehabilitation</dc:title>
  <dc:subject>PptxGenJS Presentation</dc:subject>
  <dc:creator>Maxillofacial Rehabilitation Registry</dc:creator>
  <cp:lastModifiedBy>Maxillofacial Rehabilitation Registry</cp:lastModifiedBy>
  <cp:revision>1</cp:revision>
  <dcterms:created xsi:type="dcterms:W3CDTF">2026-06-14T09:12:08Z</dcterms:created>
  <dcterms:modified xsi:type="dcterms:W3CDTF">2026-06-14T09:12:08Z</dcterms:modified>
</cp:coreProperties>
</file>